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FE5D-E4F4-54B3-E73D-4467B22C4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40BAD-61DA-4431-DAF1-BA7216FBB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E9C9D-F13C-7127-BDBB-A815FA41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5C721-50D9-EFCD-B704-CB60C1A2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CAF7F-8F4E-2AE2-BCFD-66A2AD4A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1D87-6687-3467-7C75-F7E2F131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25F7-E0AF-532B-4D43-D970E9772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D34E-EDA8-4FEB-8AF2-CCBAD24D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6A4C7-C791-916D-BD15-F7C24B8B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5EF3A-D973-ECA0-8A93-191595589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3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7A22-1F83-24CD-4481-ED9766D9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33A4D-D41A-F247-139B-7A8C65766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9C01C-93F4-C3F6-5884-85C68B3DF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60FD-ECA2-E4B7-E553-A031087F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CEC8D-B88A-384F-B7DA-A850DDC7D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1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DC34-2260-A420-667F-A113F317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84F9-4A95-50BB-A75B-3C8DE7614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6514B-D49B-5F93-AF85-3CAC7E4BA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E0B3B-57C4-85E8-4A81-50AA2DBC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81485-919E-E3CA-94A9-D659B090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9902F-8F53-E54B-141C-3A14D8E1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1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044A-BFDF-71AC-3790-D23AD558C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8A4A5-874E-7307-717C-94C198A21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5ED2A-94CF-A833-D1B6-FA4F4BDAA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132A9-94B1-F737-E428-379FDD301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AA194-6DDF-7E66-188D-E59442BF2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7B78A-8C4E-724B-A122-1AA96CD3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7FCC65-6FCB-D40C-F1CB-31031EA4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07065-0535-8EB8-B3B8-CB91D657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6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DE5D-6B1B-F2BB-A94B-87EED13D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9DDC2-A0C6-D730-2A9C-F006E5D9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EAC6E-CF28-5141-B40A-2AB08FD9A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110B0-E3BA-6F17-E967-13E265E5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8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FC936-4743-CB3F-A881-A8DE95E92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2EF45-52B6-FCB1-56BE-6A1AF370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FD6A5-A4B9-FA65-30FB-C366D2D0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6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752A-D631-91E5-C736-7E982E311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8FA81-8C24-D888-D46A-5CC2AEF28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6017B-9F09-7FA4-9E45-AD9A9A4F4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08954-7CE5-383B-4D9E-BB76581E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4F238-EA70-B5AA-76CC-8FC93BAB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E948F-4B23-3C83-BD77-817422433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8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A7D4-3086-00B0-B10C-55FA3714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937D1-BF65-B987-8DCB-8A5B0A846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E91CD-4A16-1E1C-CA69-CEB698C8F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96E8-CC5D-F85C-737B-2D13A4E9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A70C9-268B-853F-6BB7-2D4CA930F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4BCC6-91F3-D7DB-8917-93B9DD86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1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CA6D-5C43-E249-D01A-D8434977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BB14D-34C5-B4B0-D584-5B9B3205A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D5E68-6F87-46F8-CDD5-F7499D55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5657-E845-1E72-3538-92025A7A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1199A-5357-B205-3502-758E679C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1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36F129-A6BA-E7C0-59B2-44B193DED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39CF2-D983-6D27-FB9B-349D8E142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B3D6C-0278-6A7A-FAF8-D9A89D5C9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67484-E4E6-5049-0D5A-4C9AF46E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76847-E522-6A6C-8DE1-3C3F0E078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B878B-298A-570E-D41B-EA501B3E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A4731-3169-2F00-0E9F-3B838A70C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143D-A2F9-F782-28E5-29AAB1069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BE1C1-82BC-4DEF-8823-D578D56EE9F6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66BAE-719C-1945-84EB-F0436CD54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F2090-CD10-66B9-D6C9-330F30722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03886-622F-4FD8-AFD5-F1137209F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4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20C9EA-1E2A-0774-F512-FEA6CBA33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3886742" cy="3429000"/>
          </a:xfrm>
        </p:spPr>
      </p:pic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6A212E40-396C-6B7F-FC2B-A0AC7071F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115" y="3429000"/>
            <a:ext cx="1409897" cy="1657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07AEB5-8A60-727C-DAC6-413EC5CE4CE2}"/>
              </a:ext>
            </a:extLst>
          </p:cNvPr>
          <p:cNvSpPr txBox="1"/>
          <p:nvPr/>
        </p:nvSpPr>
        <p:spPr>
          <a:xfrm>
            <a:off x="84582" y="5253335"/>
            <a:ext cx="40942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rial" panose="020B0604020202020204" pitchFamily="34" charset="0"/>
              </a:rPr>
              <a:t>Master’s degree of Applied Science -  Applied Mathematics</a:t>
            </a:r>
            <a:r>
              <a:rPr lang="en-US" sz="1800" dirty="0">
                <a:effectLst/>
                <a:latin typeface="Arial" panose="020B0604020202020204" pitchFamily="34" charset="0"/>
              </a:rPr>
              <a:t> </a:t>
            </a:r>
            <a:endParaRPr lang="en-US" dirty="0"/>
          </a:p>
          <a:p>
            <a:r>
              <a:rPr lang="en-US" sz="1800" dirty="0">
                <a:effectLst/>
                <a:latin typeface="Arial" panose="020B0604020202020204" pitchFamily="34" charset="0"/>
              </a:rPr>
              <a:t>Faculty of Sciences, Novi Sad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B8418-4F3A-99A0-E055-A4403C25A506}"/>
              </a:ext>
            </a:extLst>
          </p:cNvPr>
          <p:cNvSpPr txBox="1"/>
          <p:nvPr/>
        </p:nvSpPr>
        <p:spPr>
          <a:xfrm>
            <a:off x="4268724" y="627579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Arial" panose="020B0604020202020204" pitchFamily="34" charset="0"/>
              </a:rPr>
              <a:t>Professor of Mathematics and Statistics</a:t>
            </a:r>
            <a:endParaRPr lang="en-US" dirty="0"/>
          </a:p>
          <a:p>
            <a:r>
              <a:rPr lang="sr-Latn-RS" sz="1800" b="1" dirty="0">
                <a:effectLst/>
                <a:latin typeface="Arial" panose="020B0604020202020204" pitchFamily="34" charset="0"/>
              </a:rPr>
              <a:t>      </a:t>
            </a:r>
            <a:r>
              <a:rPr lang="en-US" sz="1800" b="1" dirty="0">
                <a:effectLst/>
                <a:latin typeface="Arial" panose="020B0604020202020204" pitchFamily="34" charset="0"/>
              </a:rPr>
              <a:t>Primary and high school teaching,</a:t>
            </a:r>
            <a:r>
              <a:rPr lang="en-US" sz="1800" dirty="0">
                <a:effectLst/>
                <a:latin typeface="Arial" panose="020B0604020202020204" pitchFamily="34" charset="0"/>
              </a:rPr>
              <a:t> Novi Sad 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Applied Mathematician &amp; Statistician</a:t>
            </a:r>
            <a:endParaRPr lang="sr-Latn-RS" dirty="0"/>
          </a:p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sr-Latn-R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Crowded Room Studio</a:t>
            </a:r>
            <a:r>
              <a:rPr lang="en-US" sz="1800" dirty="0">
                <a:effectLst/>
                <a:latin typeface="Arial" panose="020B0604020202020204" pitchFamily="34" charset="0"/>
              </a:rPr>
              <a:t>, Novi Sad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QA Test Developer, Levi9</a:t>
            </a:r>
            <a:r>
              <a:rPr lang="en-US" sz="1800" dirty="0">
                <a:effectLst/>
                <a:latin typeface="Arial" panose="020B0604020202020204" pitchFamily="34" charset="0"/>
              </a:rPr>
              <a:t>, Novi Sad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47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2083-F912-B7F5-9802-6A442DCF3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888" y="1122363"/>
            <a:ext cx="11759184" cy="23876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2021-2025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02849-0503-07A5-A7C4-86C47C573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7096" y="3509963"/>
            <a:ext cx="6099048" cy="1655762"/>
          </a:xfrm>
        </p:spPr>
        <p:txBody>
          <a:bodyPr/>
          <a:lstStyle/>
          <a:p>
            <a:pPr algn="l"/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-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endParaRPr lang="en-US" i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-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RSD/EUR</a:t>
            </a:r>
          </a:p>
        </p:txBody>
      </p:sp>
    </p:spTree>
    <p:extLst>
      <p:ext uri="{BB962C8B-B14F-4D97-AF65-F5344CB8AC3E}">
        <p14:creationId xmlns:p14="http://schemas.microsoft.com/office/powerpoint/2010/main" val="184442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69578-1E55-3C4E-C558-78EFA6B3B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29984"/>
          </a:xfrm>
        </p:spPr>
        <p:txBody>
          <a:bodyPr>
            <a:normAutofit fontScale="92500" lnSpcReduction="20000"/>
          </a:bodyPr>
          <a:lstStyle/>
          <a:p>
            <a:r>
              <a:rPr lang="en-US" sz="21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Matrica</a:t>
            </a:r>
            <a:r>
              <a:rPr lang="en-US" sz="2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- Month &amp; Year</a:t>
            </a:r>
            <a:r>
              <a:rPr lang="en-US" sz="2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b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Max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</a:t>
            </a: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šak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</a:t>
            </a: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tokom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svih 5 godina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r-Latn-R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r-Latn-R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r-Latn-R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sz="2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Matrica</a:t>
            </a:r>
            <a:r>
              <a:rPr lang="sr-Latn-RS" sz="2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Category-Year:</a:t>
            </a:r>
          </a:p>
          <a:p>
            <a:pPr>
              <a:buFontTx/>
              <a:buChar char="-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kategorije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dominiraju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čine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najveći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deo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ukupnih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Expenses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orast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kategoriji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Food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ukazuje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životnih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promene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navikama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potrošnje</a:t>
            </a:r>
            <a:endParaRPr lang="sr-Latn-R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imaju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udeo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ukupnom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budžetu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utiču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značajno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varijacije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potrošnje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najmanje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oscilacija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godinama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sr-Latn-R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service</a:t>
            </a:r>
            <a:endParaRPr lang="sr-Latn-R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deed</a:t>
            </a:r>
            <a:endParaRPr lang="sr-Latn-R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Hobby</a:t>
            </a:r>
            <a:endParaRPr lang="sr-Latn-R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sr-Latn-R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sr-Latn-RS" sz="2000" dirty="0"/>
          </a:p>
          <a:p>
            <a:pPr marL="0" indent="0">
              <a:buNone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C73F55-7418-B735-E9EE-ABE27D8BF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104772"/>
              </p:ext>
            </p:extLst>
          </p:nvPr>
        </p:nvGraphicFramePr>
        <p:xfrm>
          <a:off x="978569" y="1106923"/>
          <a:ext cx="8742947" cy="1135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67">
                  <a:extLst>
                    <a:ext uri="{9D8B030D-6E8A-4147-A177-3AD203B41FA5}">
                      <a16:colId xmlns:a16="http://schemas.microsoft.com/office/drawing/2014/main" val="3941787942"/>
                    </a:ext>
                  </a:extLst>
                </a:gridCol>
                <a:gridCol w="1484376">
                  <a:extLst>
                    <a:ext uri="{9D8B030D-6E8A-4147-A177-3AD203B41FA5}">
                      <a16:colId xmlns:a16="http://schemas.microsoft.com/office/drawing/2014/main" val="3537809735"/>
                    </a:ext>
                  </a:extLst>
                </a:gridCol>
                <a:gridCol w="1484376">
                  <a:extLst>
                    <a:ext uri="{9D8B030D-6E8A-4147-A177-3AD203B41FA5}">
                      <a16:colId xmlns:a16="http://schemas.microsoft.com/office/drawing/2014/main" val="987711131"/>
                    </a:ext>
                  </a:extLst>
                </a:gridCol>
                <a:gridCol w="1484376">
                  <a:extLst>
                    <a:ext uri="{9D8B030D-6E8A-4147-A177-3AD203B41FA5}">
                      <a16:colId xmlns:a16="http://schemas.microsoft.com/office/drawing/2014/main" val="1567756380"/>
                    </a:ext>
                  </a:extLst>
                </a:gridCol>
                <a:gridCol w="1484376">
                  <a:extLst>
                    <a:ext uri="{9D8B030D-6E8A-4147-A177-3AD203B41FA5}">
                      <a16:colId xmlns:a16="http://schemas.microsoft.com/office/drawing/2014/main" val="2388245070"/>
                    </a:ext>
                  </a:extLst>
                </a:gridCol>
                <a:gridCol w="1484376">
                  <a:extLst>
                    <a:ext uri="{9D8B030D-6E8A-4147-A177-3AD203B41FA5}">
                      <a16:colId xmlns:a16="http://schemas.microsoft.com/office/drawing/2014/main" val="2818429728"/>
                    </a:ext>
                  </a:extLst>
                </a:gridCol>
              </a:tblGrid>
              <a:tr h="3270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2021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2022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2023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2024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2025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40880"/>
                  </a:ext>
                </a:extLst>
              </a:tr>
              <a:tr h="404244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1"/>
                          </a:solidFill>
                        </a:rPr>
                        <a:t>MIN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April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Januar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April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Sept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Sept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44948"/>
                  </a:ext>
                </a:extLst>
              </a:tr>
              <a:tr h="176226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1"/>
                          </a:solidFill>
                        </a:rPr>
                        <a:t>MAX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Septembar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Avg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Avg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Okt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Jun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4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33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A3E8B-C004-6DCB-C6E0-CAC22F33B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7940842"/>
          </a:xfrm>
        </p:spPr>
        <p:txBody>
          <a:bodyPr>
            <a:normAutofit/>
          </a:bodyPr>
          <a:lstStyle/>
          <a:p>
            <a:endParaRPr lang="en-US" i="1" dirty="0"/>
          </a:p>
          <a:p>
            <a:r>
              <a:rPr lang="en-US" sz="1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 </a:t>
            </a:r>
            <a:r>
              <a:rPr lang="en-US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Suma u RSD po </a:t>
            </a:r>
            <a:r>
              <a:rPr lang="en-US" sz="19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Godini</a:t>
            </a:r>
            <a:r>
              <a:rPr lang="en-US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Mesecu</a:t>
            </a:r>
            <a:r>
              <a:rPr lang="en-US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9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Uvodjenje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Dax mere </a:t>
            </a:r>
            <a:r>
              <a:rPr lang="en-US" sz="1900" b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RealniTrosakRSD</a:t>
            </a:r>
            <a:r>
              <a:rPr lang="en-US" sz="19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iznos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RSD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korigovan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prosečnom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stopom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deli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nominalni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iznos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inflacionim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faktorom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+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inflacija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/100)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daje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realne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inflacijski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prilagođene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900" b="0" i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Svaka boja je jedan mesec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ima pik u septembru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ekstremne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skokove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pl-PL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je ujednačenija, ali sa jakim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</a:p>
          <a:p>
            <a:pPr>
              <a:buFontTx/>
              <a:buChar char="-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jak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oktobru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razlikuje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ostalih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ravnomerniji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septembar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nije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pik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ranije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Column Chart</a:t>
            </a:r>
          </a:p>
          <a:p>
            <a:pPr>
              <a:buFontTx/>
              <a:buChar char="-"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Najskuplja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2024</a:t>
            </a:r>
          </a:p>
          <a:p>
            <a:pPr>
              <a:buFontTx/>
              <a:buChar char="-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Druga po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veličini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2023</a:t>
            </a:r>
          </a:p>
          <a:p>
            <a:pPr>
              <a:buFontTx/>
              <a:buChar char="-"/>
            </a:pPr>
            <a:r>
              <a:rPr lang="pl-PL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Najniža ukupna godina: 2021 i 2022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dirty="0"/>
          </a:p>
          <a:p>
            <a:pPr marL="0" indent="0">
              <a:buNone/>
            </a:pPr>
            <a:br>
              <a:rPr lang="en-US" i="1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3677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DE69-0ED0-125C-2EB7-2C6B2B48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 trough za Mese</a:t>
            </a:r>
            <a:r>
              <a:rPr lang="sr-Latn-R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</a:t>
            </a:r>
            <a:r>
              <a:rPr lang="sr-Latn-R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nju</a:t>
            </a:r>
            <a:endParaRPr lang="sr-Latn-R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mera </a:t>
            </a:r>
            <a:r>
              <a:rPr lang="sr-Latn-R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Realni Trosak EUR </a:t>
            </a: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osnovu tabele EUR Inflacija</a:t>
            </a:r>
          </a:p>
          <a:p>
            <a:endParaRPr lang="sr-Latn-R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sz="20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mera: </a:t>
            </a:r>
            <a:r>
              <a:rPr lang="sr-Latn-R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Udeo Kategorije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računa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udeo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troškovima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izabrani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</a:t>
            </a:r>
            <a:endParaRPr lang="en-US" sz="2000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B720D-C575-3238-80EB-43898CBE2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7" y="1090863"/>
            <a:ext cx="3533981" cy="460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7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4DB3-5CB5-7CAD-722D-D5907B0D8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po Kvartalima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ACCE-2EA3-5CB8-78D7-DAA0F0202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Analiza: Godina-Kvartal</a:t>
            </a:r>
          </a:p>
          <a:p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Analiza: Godina &amp; Kvartal – Amount Eur &amp; Amount RSD</a:t>
            </a:r>
          </a:p>
          <a:p>
            <a:r>
              <a:rPr lang="sr-Latn-R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Analiza: Mesec po godinama – Kvartal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Avgust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Novembar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891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C6C4-B215-0927-D9FA-703F8DFB7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Skater (tačkasti)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42F81-3709-BE99-E360-9EEDCD89A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52691"/>
          </a:xfrm>
        </p:spPr>
        <p:txBody>
          <a:bodyPr>
            <a:normAutofit/>
          </a:bodyPr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EUR po Godini i Amount RSD</a:t>
            </a:r>
          </a:p>
          <a:p>
            <a:pPr marL="0" indent="0">
              <a:buNone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tačka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predstavlja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tačke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blizu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pravoj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liniji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proporcionalnosti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znači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tom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stabilan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tačke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rasprše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pokazuje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promene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nesrazmer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EUR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RSD</a:t>
            </a:r>
            <a:endParaRPr lang="sr-Latn-R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svoju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boju</a:t>
            </a:r>
            <a:endParaRPr lang="sr-Latn-R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linij</a:t>
            </a:r>
            <a:r>
              <a:rPr lang="sr-Latn-R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prosečan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koliko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RSD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jačao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slabio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EUR 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iznose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sr-Latn-RS" dirty="0"/>
          </a:p>
          <a:p>
            <a:pPr>
              <a:buFontTx/>
              <a:buChar char="-"/>
            </a:pPr>
            <a:endParaRPr lang="sr-Latn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47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C8EB-5E8B-B63B-EC1B-773566EF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6705600" cy="934285"/>
          </a:xfrm>
        </p:spPr>
        <p:txBody>
          <a:bodyPr>
            <a:normAutofit fontScale="90000"/>
          </a:bodyPr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Odnos inflacije i iznosa u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</a:t>
            </a:r>
            <a:br>
              <a:rPr lang="sr-Latn-R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C8A56-C5C9-D02B-5A74-477DD57E2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5600" y="365126"/>
            <a:ext cx="4989094" cy="60677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8F317F-49B3-C0AF-E84E-5FCDBDE1C324}"/>
              </a:ext>
            </a:extLst>
          </p:cNvPr>
          <p:cNvSpPr txBox="1">
            <a:spLocks/>
          </p:cNvSpPr>
          <p:nvPr/>
        </p:nvSpPr>
        <p:spPr>
          <a:xfrm>
            <a:off x="497306" y="1062957"/>
            <a:ext cx="5867400" cy="5626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Dijagram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prikazuje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kako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iznosi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evrima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menjaju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kvartalima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boje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označavaju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kvartal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Tačke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bliže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gore-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desno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visoki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iznosi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visoku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inflaciju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Tačke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raspršene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nema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jasne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veze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iznosa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kumimoji="0" lang="en-US" altLang="en-US" sz="2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evrima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sr-Latn-R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25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0A25-4A6D-0C28-F563-A94BAA3B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trosak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EUR po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Kvartalima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A83C-1382-B3E0-DD34-103B2B6C0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and Stacked column chart: </a:t>
            </a: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troskoviu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column chart: Y-Q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467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E377-3669-C93A-7F8F-26222C51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QoQ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YoY change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Standar Deviation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CD11C-D14D-E78F-3783-BA3DDE7B4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943600"/>
          </a:xfrm>
        </p:spPr>
        <p:txBody>
          <a:bodyPr>
            <a:normAutofit fontScale="92500"/>
          </a:bodyPr>
          <a:lstStyle/>
          <a:p>
            <a:r>
              <a:rPr lang="en-US" sz="2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QoQ (Quarter-over-Quarter)</a:t>
            </a:r>
          </a:p>
          <a:p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Upoređuje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iznos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trenutnog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iznosom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prethodnog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istoj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godini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Pokazuje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kratkoročni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trend —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koliko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porasla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opala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prethodni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200.000) dobro, (200.000,280.000)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neutralno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QoQ&gt;280.000 lo</a:t>
            </a:r>
            <a:r>
              <a:rPr lang="sr-Latn-R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š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r>
              <a:rPr lang="en-US" sz="2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YoY Change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potrosnja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tekuce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kvartalu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potrosnja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prosle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istom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kvartalu</a:t>
            </a:r>
            <a:endParaRPr lang="en-US" sz="2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rezultat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pozitivan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trošilo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više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prošle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istom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kvartalu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rezultat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negativan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trošilo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manje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nego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prošle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istom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kvartalu</a:t>
            </a:r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YoY &lt;0 dobro, YoY &gt;0 </a:t>
            </a:r>
            <a:r>
              <a:rPr lang="en-US" sz="22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loše</a:t>
            </a:r>
            <a:endParaRPr lang="sr-Latn-RS" sz="2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Standardna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devijacija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pokazuje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koliko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iznosi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dinarima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razlikuju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prosečne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veća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devijacija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znači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veće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oscilacije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r-Latn-R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r-Latn-RS" sz="22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(0,2500) dobro, (2500,5000) neutralno, (5000, Max) loše</a:t>
            </a:r>
            <a:endParaRPr lang="en-US" sz="2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 Q3</a:t>
            </a:r>
          </a:p>
          <a:p>
            <a:r>
              <a:rPr lang="en-US" sz="22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2022 Q1</a:t>
            </a:r>
          </a:p>
          <a:p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Q2</a:t>
            </a:r>
            <a:endParaRPr lang="en-US" sz="2200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998E-12E3-4857-30C0-74D434DC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11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Average and Versus previous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A6C6A-A8E7-AADC-A27C-2E75E335C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9714"/>
            <a:ext cx="12192000" cy="5878286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grupa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stubića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 Y-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godina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sadrži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tri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stubića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tvarni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iznos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(Amount EUR)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Visok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visoka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potrosnja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Nizak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mala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potrosnja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više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prethodnih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(Moving Average)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Visok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stabilno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visoke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vrednosti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Nizak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trend je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dugorocno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nizak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romenu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prethodni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period (Versus Previous)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Visok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Ljudi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troše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više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nego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prošlog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kvartala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značiti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cena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inflacija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Niza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negativan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manje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nego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prethodnom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kvartalu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– Q4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 – Q1,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AmountEUR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ljudi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kupuju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manje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 cene </a:t>
            </a:r>
            <a:r>
              <a:rPr lang="es-E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porasle</a:t>
            </a:r>
            <a:r>
              <a:rPr lang="es-E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potrošnja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održava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Q3,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deflacija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potrosnja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opada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odlaganje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kupovine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stednja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63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0582-E15C-FB40-32C2-35663A57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rasta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ukupnih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domaćinstva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Running sum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93547-1A0F-1B35-E100-AAB8E81FA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0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prikazuje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kumulativnih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trendova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domaćinstva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kumulativni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godišnji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kumulativni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resetovanjem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početku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ukazuje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kontinuirano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povećanje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potrošnje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dužem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Godišnji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omogućava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poređenje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potrošnje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jasno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prikazuje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stabilnije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pokazale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Promene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nagiba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linija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ukazuju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sezonske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obrasce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potrošnje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periodične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skokove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16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F212-CFE6-823A-B95F-BD2F92635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0FB7-0CE7-CCD2-DD87-0D5992FB3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Predvidjanje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kretanja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EUR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Predvidjanje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kretanja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Q4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priblizno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 Q2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117.58 vs 117.57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1.5 vs 1.9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405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6A3A-F548-D801-C35B-3CC5A29A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Trosak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EUR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5E981-9BA3-9850-E02A-9F8BC006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fontScale="70000" lnSpcReduction="20000"/>
          </a:bodyPr>
          <a:lstStyle/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Prikazuje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kako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menjaju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zavisnosti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stope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ne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hronološki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Gubitak realne kupovne moći je najveći na visokim inflacijama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Viša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novac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gubi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više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koštaju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Niža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inflacija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sporije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troškovi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manje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koštaju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🟦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Plavi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stubići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tom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koraku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Plavi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stub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predstavlja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početnu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završnu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 u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grafiku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🟩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Zeleni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stubići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povećanje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prethodnu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Zeleni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stub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označava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veća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prethodnu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doprinosi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ukupnom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povećanju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🟥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Crveni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stubići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smanjenje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prethodnu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Crveni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stub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označava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 –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manja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odnosu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prethodnu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umanjuje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ukupnu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vrednost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Analiza 2021-Q2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10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278E47-092B-88A8-8D7C-6C956BEC7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3832" y="154180"/>
            <a:ext cx="5568939" cy="6703820"/>
          </a:xfrm>
        </p:spPr>
      </p:pic>
    </p:spTree>
    <p:extLst>
      <p:ext uri="{BB962C8B-B14F-4D97-AF65-F5344CB8AC3E}">
        <p14:creationId xmlns:p14="http://schemas.microsoft.com/office/powerpoint/2010/main" val="1604104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6408</TotalTime>
  <Words>1062</Words>
  <Application>Microsoft Office PowerPoint</Application>
  <PresentationFormat>Widescreen</PresentationFormat>
  <Paragraphs>164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PowerPoint Presentation</vt:lpstr>
      <vt:lpstr>Troškovi domaćinstva  2021-2025</vt:lpstr>
      <vt:lpstr>PowerPoint Presentation</vt:lpstr>
      <vt:lpstr>PowerPoint Presentation</vt:lpstr>
      <vt:lpstr>PowerPoint Presentation</vt:lpstr>
      <vt:lpstr>Analiza po Kvartalima</vt:lpstr>
      <vt:lpstr>Skater (tačkasti) dijagram</vt:lpstr>
      <vt:lpstr>Odnos inflacije i iznosa u EUR </vt:lpstr>
      <vt:lpstr>Realni trosak u EUR po Kvartalima</vt:lpstr>
      <vt:lpstr>QoQ and YoY change, Standar Deviation</vt:lpstr>
      <vt:lpstr>Moving Average and Versus previous</vt:lpstr>
      <vt:lpstr>Trend rasta ukupnih troškova domaćinstva - Running sum </vt:lpstr>
      <vt:lpstr>Forecast</vt:lpstr>
      <vt:lpstr>Waterfall grafik Realni Trosak u EUR - Kurs &amp; Stopa inflacije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Biljana Mijatovic Galas</dc:creator>
  <cp:lastModifiedBy>Biljana Mijatovic Galas</cp:lastModifiedBy>
  <cp:revision>19</cp:revision>
  <dcterms:created xsi:type="dcterms:W3CDTF">2025-11-27T10:59:47Z</dcterms:created>
  <dcterms:modified xsi:type="dcterms:W3CDTF">2026-01-13T21:04:13Z</dcterms:modified>
</cp:coreProperties>
</file>